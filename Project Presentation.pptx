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7" r:id="rId4"/>
    <p:sldId id="263" r:id="rId5"/>
    <p:sldId id="258" r:id="rId6"/>
    <p:sldId id="259" r:id="rId7"/>
    <p:sldId id="260" r:id="rId8"/>
    <p:sldId id="264" r:id="rId9"/>
    <p:sldId id="261" r:id="rId10"/>
    <p:sldId id="262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708C7-49CD-491F-B0E2-94573F3903B9}" v="19" dt="2024-12-21T09:39:53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8" d="100"/>
          <a:sy n="58" d="100"/>
        </p:scale>
        <p:origin x="1520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2022456" userId="6f7281f1-f0ea-41bc-8a92-f3edfe11c3a8" providerId="ADAL" clId="{807708C7-49CD-491F-B0E2-94573F3903B9}"/>
    <pc:docChg chg="modSld">
      <pc:chgData name="u2022456" userId="6f7281f1-f0ea-41bc-8a92-f3edfe11c3a8" providerId="ADAL" clId="{807708C7-49CD-491F-B0E2-94573F3903B9}" dt="2024-12-21T09:39:53.345" v="18"/>
      <pc:docMkLst>
        <pc:docMk/>
      </pc:docMkLst>
      <pc:sldChg chg="modTransition">
        <pc:chgData name="u2022456" userId="6f7281f1-f0ea-41bc-8a92-f3edfe11c3a8" providerId="ADAL" clId="{807708C7-49CD-491F-B0E2-94573F3903B9}" dt="2024-12-21T09:37:36.889" v="0"/>
        <pc:sldMkLst>
          <pc:docMk/>
          <pc:sldMk cId="2160010578" sldId="256"/>
        </pc:sldMkLst>
      </pc:sldChg>
      <pc:sldChg chg="modTransition modAnim">
        <pc:chgData name="u2022456" userId="6f7281f1-f0ea-41bc-8a92-f3edfe11c3a8" providerId="ADAL" clId="{807708C7-49CD-491F-B0E2-94573F3903B9}" dt="2024-12-21T09:38:54.925" v="11"/>
        <pc:sldMkLst>
          <pc:docMk/>
          <pc:sldMk cId="1160387018" sldId="257"/>
        </pc:sldMkLst>
      </pc:sldChg>
      <pc:sldChg chg="modTransition modAnim">
        <pc:chgData name="u2022456" userId="6f7281f1-f0ea-41bc-8a92-f3edfe11c3a8" providerId="ADAL" clId="{807708C7-49CD-491F-B0E2-94573F3903B9}" dt="2024-12-21T09:39:09.680" v="13"/>
        <pc:sldMkLst>
          <pc:docMk/>
          <pc:sldMk cId="2351572244" sldId="258"/>
        </pc:sldMkLst>
      </pc:sldChg>
      <pc:sldChg chg="modTransition modAnim">
        <pc:chgData name="u2022456" userId="6f7281f1-f0ea-41bc-8a92-f3edfe11c3a8" providerId="ADAL" clId="{807708C7-49CD-491F-B0E2-94573F3903B9}" dt="2024-12-21T09:39:17.447" v="14"/>
        <pc:sldMkLst>
          <pc:docMk/>
          <pc:sldMk cId="3556656110" sldId="259"/>
        </pc:sldMkLst>
      </pc:sldChg>
      <pc:sldChg chg="modTransition modAnim">
        <pc:chgData name="u2022456" userId="6f7281f1-f0ea-41bc-8a92-f3edfe11c3a8" providerId="ADAL" clId="{807708C7-49CD-491F-B0E2-94573F3903B9}" dt="2024-12-21T09:39:26.902" v="15"/>
        <pc:sldMkLst>
          <pc:docMk/>
          <pc:sldMk cId="328395444" sldId="260"/>
        </pc:sldMkLst>
      </pc:sldChg>
      <pc:sldChg chg="modTransition modAnim">
        <pc:chgData name="u2022456" userId="6f7281f1-f0ea-41bc-8a92-f3edfe11c3a8" providerId="ADAL" clId="{807708C7-49CD-491F-B0E2-94573F3903B9}" dt="2024-12-21T09:39:45.472" v="17"/>
        <pc:sldMkLst>
          <pc:docMk/>
          <pc:sldMk cId="1939555892" sldId="261"/>
        </pc:sldMkLst>
      </pc:sldChg>
      <pc:sldChg chg="modTransition modAnim">
        <pc:chgData name="u2022456" userId="6f7281f1-f0ea-41bc-8a92-f3edfe11c3a8" providerId="ADAL" clId="{807708C7-49CD-491F-B0E2-94573F3903B9}" dt="2024-12-21T09:39:53.345" v="18"/>
        <pc:sldMkLst>
          <pc:docMk/>
          <pc:sldMk cId="4293864265" sldId="262"/>
        </pc:sldMkLst>
      </pc:sldChg>
      <pc:sldChg chg="modTransition modAnim">
        <pc:chgData name="u2022456" userId="6f7281f1-f0ea-41bc-8a92-f3edfe11c3a8" providerId="ADAL" clId="{807708C7-49CD-491F-B0E2-94573F3903B9}" dt="2024-12-21T09:39:02.256" v="12"/>
        <pc:sldMkLst>
          <pc:docMk/>
          <pc:sldMk cId="1806934905" sldId="263"/>
        </pc:sldMkLst>
      </pc:sldChg>
      <pc:sldChg chg="modTransition modAnim">
        <pc:chgData name="u2022456" userId="6f7281f1-f0ea-41bc-8a92-f3edfe11c3a8" providerId="ADAL" clId="{807708C7-49CD-491F-B0E2-94573F3903B9}" dt="2024-12-21T09:39:37.867" v="16"/>
        <pc:sldMkLst>
          <pc:docMk/>
          <pc:sldMk cId="1755638385" sldId="264"/>
        </pc:sldMkLst>
      </pc:sldChg>
      <pc:sldChg chg="modTransition modAnim">
        <pc:chgData name="u2022456" userId="6f7281f1-f0ea-41bc-8a92-f3edfe11c3a8" providerId="ADAL" clId="{807708C7-49CD-491F-B0E2-94573F3903B9}" dt="2024-12-21T09:38:49.527" v="10"/>
        <pc:sldMkLst>
          <pc:docMk/>
          <pc:sldMk cId="3208080933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fld id="{F3864328-1FE5-4153-BAE4-61CE7592746A}" type="datetimeFigureOut">
              <a:rPr lang="ru-RU" smtClean="0"/>
              <a:t>21.12.2024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D412EE2A-43FD-424B-8C8D-47FF493FC9A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543800" cy="1524000"/>
          </a:xfrm>
        </p:spPr>
        <p:txBody>
          <a:bodyPr/>
          <a:lstStyle/>
          <a:p>
            <a:r>
              <a:rPr lang="en-US" sz="6000" dirty="0" err="1"/>
              <a:t>Schedbot</a:t>
            </a:r>
            <a:r>
              <a:rPr lang="en-US" sz="6000" dirty="0"/>
              <a:t>: An AI-Driven Timetable Generator</a:t>
            </a:r>
            <a:endParaRPr lang="ru-RU" sz="6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13992" y="4004184"/>
            <a:ext cx="8250495" cy="1369031"/>
          </a:xfrm>
        </p:spPr>
        <p:txBody>
          <a:bodyPr>
            <a:noAutofit/>
          </a:bodyPr>
          <a:lstStyle/>
          <a:p>
            <a:r>
              <a:rPr lang="en-GB" sz="3600" b="1" dirty="0"/>
              <a:t>Using Genetic Algorithms for Optimized 			  Scheduling</a:t>
            </a:r>
            <a:endParaRPr lang="ru-R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74027-1DDC-7848-A6F7-495EC0CB8B61}"/>
              </a:ext>
            </a:extLst>
          </p:cNvPr>
          <p:cNvSpPr txBox="1"/>
          <p:nvPr/>
        </p:nvSpPr>
        <p:spPr>
          <a:xfrm>
            <a:off x="739211" y="5341234"/>
            <a:ext cx="6696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MUHAMMAD YOUNAS - 2022456</a:t>
            </a:r>
          </a:p>
        </p:txBody>
      </p:sp>
    </p:spTree>
    <p:extLst>
      <p:ext uri="{BB962C8B-B14F-4D97-AF65-F5344CB8AC3E}">
        <p14:creationId xmlns:p14="http://schemas.microsoft.com/office/powerpoint/2010/main" val="2160010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447D1-DE50-2E0D-BD77-B3C0433A1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79AEE-6629-ADA4-A944-9BAA7CB47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Quote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0B9FA0-B4A8-7873-5C91-C06511E6F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685800"/>
            <a:ext cx="8424936" cy="45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b="1" dirty="0"/>
              <a:t>Efficiency is not just doing things faster; it’s about doing the right things in the smartest way possible. Automation is where intelligence meets purpose.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320808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Content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Proposed Solution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Conclusion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038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0E5BA-0DDE-381C-4438-146FBACC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7A3D94-E754-CE7B-7B62-7C3ACBA5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ABSTRACT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524AF4-F4F6-88E5-DFC6-CC07F4C98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Traditional static timetables fail to adapt to dynamic academic needs, causing inefficiencies. </a:t>
            </a:r>
            <a:r>
              <a:rPr lang="en-GB" dirty="0" err="1"/>
              <a:t>Schedbot</a:t>
            </a:r>
            <a:r>
              <a:rPr lang="en-GB" dirty="0"/>
              <a:t> uses Genetic Algorithms and Simulated Annealing to create flexible, optimized timetables in minutes, allowing users to generate schedules via chatbot or quick-generation mode.</a:t>
            </a:r>
          </a:p>
          <a:p>
            <a:pPr marL="0" indent="0">
              <a:buNone/>
            </a:pPr>
            <a:r>
              <a:rPr lang="en-GB" dirty="0"/>
              <a:t>Efficient, conflict-free timetables tailored to user preferences.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6934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2000" y="476672"/>
            <a:ext cx="7543800" cy="4608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The Problem:</a:t>
            </a:r>
            <a:endParaRPr lang="en-GB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Static timetables are rigid and inefficient.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Manual adjustments are time-consuming and error-prone.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Conflicts arise from constraints like room availability, teacher schedules, and credit hours.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Why It Matters:</a:t>
            </a:r>
            <a:endParaRPr lang="en-GB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Impacts academic productivity.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Causes delays and dissatisfaction among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Administrative workloads increase significantly.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1572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SOLUTION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548680"/>
            <a:ext cx="7982272" cy="48245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Schedbot</a:t>
            </a:r>
            <a:r>
              <a:rPr lang="en-US" b="1" dirty="0">
                <a:solidFill>
                  <a:srgbClr val="FF0000"/>
                </a:solidFill>
              </a:rPr>
              <a:t> Overview: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Chatbot Mode:</a:t>
            </a:r>
            <a:r>
              <a:rPr lang="en-US" dirty="0"/>
              <a:t> Personalized schedules via conversational inputs.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Quick Mode:</a:t>
            </a:r>
            <a:r>
              <a:rPr lang="en-US" dirty="0"/>
              <a:t> One-click timetable generation without a chatbot.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Key Features:</a:t>
            </a:r>
            <a:endParaRPr lang="en-GB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Generates timetables for a day, month, or academic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Optimized schedules using Genetic Algorithms and Simulated Annealing.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Handles constraints such as lecture sequences, room capacity, and credit hours.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65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639653"/>
            <a:ext cx="8424936" cy="47525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300" b="1" dirty="0">
                <a:solidFill>
                  <a:srgbClr val="FF0000"/>
                </a:solidFill>
              </a:rPr>
              <a:t>Algorithm Components:</a:t>
            </a:r>
            <a:endParaRPr lang="en-GB" sz="23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sz="2300" b="1" dirty="0"/>
              <a:t>Chromosome Representation:</a:t>
            </a:r>
            <a:r>
              <a:rPr lang="en-GB" sz="2300" dirty="0"/>
              <a:t> Timetable as a chromosome; genes represent courses and slots.</a:t>
            </a:r>
          </a:p>
          <a:p>
            <a:pPr>
              <a:buFont typeface="+mj-lt"/>
              <a:buAutoNum type="arabicPeriod"/>
            </a:pPr>
            <a:r>
              <a:rPr lang="en-GB" sz="2300" b="1" dirty="0"/>
              <a:t>Fitness Function:</a:t>
            </a:r>
            <a:r>
              <a:rPr lang="en-GB" sz="2300" dirty="0"/>
              <a:t> Ensures no conflicts and satisfies constraints.</a:t>
            </a:r>
          </a:p>
          <a:p>
            <a:pPr>
              <a:buFont typeface="+mj-lt"/>
              <a:buAutoNum type="arabicPeriod"/>
            </a:pPr>
            <a:r>
              <a:rPr lang="en-GB" sz="2300" b="1" dirty="0"/>
              <a:t>Crossover &amp; Mutation:</a:t>
            </a:r>
            <a:r>
              <a:rPr lang="en-GB" sz="2300" dirty="0"/>
              <a:t> Combines solutions and introduces diversity.</a:t>
            </a:r>
          </a:p>
          <a:p>
            <a:pPr>
              <a:buFont typeface="+mj-lt"/>
              <a:buAutoNum type="arabicPeriod"/>
            </a:pPr>
            <a:r>
              <a:rPr lang="en-GB" sz="2300" b="1" dirty="0"/>
              <a:t>Elitism:</a:t>
            </a:r>
            <a:r>
              <a:rPr lang="en-GB" sz="2300" dirty="0"/>
              <a:t> Retains the top 10% of best solutions.</a:t>
            </a:r>
          </a:p>
          <a:p>
            <a:pPr marL="0" indent="0">
              <a:buNone/>
            </a:pPr>
            <a:r>
              <a:rPr lang="en-GB" sz="2300" b="1" dirty="0">
                <a:solidFill>
                  <a:srgbClr val="FF0000"/>
                </a:solidFill>
              </a:rPr>
              <a:t>Parameters:</a:t>
            </a:r>
            <a:endParaRPr lang="en-GB" sz="23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2300" b="1" dirty="0"/>
              <a:t>Population Size:</a:t>
            </a:r>
            <a:r>
              <a:rPr lang="en-GB" sz="2300" dirty="0"/>
              <a:t> 100 individuals.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b="1" dirty="0"/>
              <a:t>Mutation Rate:</a:t>
            </a:r>
            <a:r>
              <a:rPr lang="en-GB" sz="2300" dirty="0"/>
              <a:t> 5%.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300" b="1" dirty="0"/>
              <a:t>Generations:</a:t>
            </a:r>
            <a:r>
              <a:rPr lang="en-GB" sz="2300" dirty="0"/>
              <a:t> 50 iterations.</a:t>
            </a:r>
          </a:p>
          <a:p>
            <a:pPr marL="0" indent="0">
              <a:buNone/>
            </a:pP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328395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B7A8F-38A4-723E-03EA-30BA1645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59EAD9-BEF8-6325-FF79-1200B6465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STEPS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9CC80E-8C36-39CC-34D3-3CEB56C92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424936" cy="3653443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Input Gathering:</a:t>
            </a:r>
            <a:r>
              <a:rPr lang="en-GB" dirty="0"/>
              <a:t> User preferences (via chatbot or web interface).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Initialization:</a:t>
            </a:r>
            <a:r>
              <a:rPr lang="en-GB" dirty="0"/>
              <a:t> Create random timetable population.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Fitness Evaluation:</a:t>
            </a:r>
            <a:r>
              <a:rPr lang="en-GB" dirty="0"/>
              <a:t> Score timetables based on constraints.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Selection &amp; Evolution:</a:t>
            </a:r>
            <a:r>
              <a:rPr lang="en-GB" dirty="0"/>
              <a:t> Apply crossover and mutation to create new generations.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Convergence:</a:t>
            </a:r>
            <a:r>
              <a:rPr lang="en-GB" dirty="0"/>
              <a:t> Stop when optimal schedules are achieved.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Output:</a:t>
            </a:r>
            <a:r>
              <a:rPr lang="en-GB" dirty="0"/>
              <a:t> Display the best timetable via the web application.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563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2000" y="5229200"/>
            <a:ext cx="6781800" cy="943000"/>
          </a:xfrm>
        </p:spPr>
        <p:txBody>
          <a:bodyPr>
            <a:normAutofit/>
          </a:bodyPr>
          <a:lstStyle/>
          <a:p>
            <a:r>
              <a:rPr lang="en-US" dirty="0"/>
              <a:t>RESULT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47E058-8078-8912-068F-0A326DA4C0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633645"/>
            <a:ext cx="791445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Timetables generated in &lt;3 minutes for complex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90% constraint satisfaction rate.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multiple lecture halls and user inputs simultaneously. </a:t>
            </a:r>
          </a:p>
        </p:txBody>
      </p:sp>
    </p:spTree>
    <p:extLst>
      <p:ext uri="{BB962C8B-B14F-4D97-AF65-F5344CB8AC3E}">
        <p14:creationId xmlns:p14="http://schemas.microsoft.com/office/powerpoint/2010/main" val="193955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2000" y="5301208"/>
            <a:ext cx="6781800" cy="870992"/>
          </a:xfrm>
        </p:spPr>
        <p:txBody>
          <a:bodyPr>
            <a:normAutofit fontScale="90000"/>
          </a:bodyPr>
          <a:lstStyle/>
          <a:p>
            <a:r>
              <a:rPr lang="en-US" dirty="0"/>
              <a:t>Conclusion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685800"/>
            <a:ext cx="8820472" cy="47594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Key Takeaways:</a:t>
            </a:r>
            <a:endParaRPr lang="en-GB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Schedbot</a:t>
            </a:r>
            <a:r>
              <a:rPr lang="en-GB" dirty="0"/>
              <a:t> successfully automates timetable generation using genetic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Reduces administrative burden while meeting user-specific constraints.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Provides flexibility and adaptability for evolving needs.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Future Improvements:</a:t>
            </a:r>
            <a:endParaRPr lang="en-GB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GB" dirty="0"/>
              <a:t>Real-time data integration (teacher availability).</a:t>
            </a:r>
          </a:p>
          <a:p>
            <a:pPr>
              <a:buFont typeface="+mj-lt"/>
              <a:buAutoNum type="arabicPeriod"/>
            </a:pPr>
            <a:r>
              <a:rPr lang="en-GB" dirty="0"/>
              <a:t>Advanced user-defined constraints (e.g., teacher slot preferences).</a:t>
            </a:r>
          </a:p>
          <a:p>
            <a:pPr>
              <a:buFont typeface="+mj-lt"/>
              <a:buAutoNum type="arabicPeriod"/>
            </a:pPr>
            <a:r>
              <a:rPr lang="en-GB" dirty="0"/>
              <a:t>Expansion to exam and event scheduling.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938642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85</TotalTime>
  <Words>447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Impact</vt:lpstr>
      <vt:lpstr>Times New Roman</vt:lpstr>
      <vt:lpstr>NewsPrint</vt:lpstr>
      <vt:lpstr>Schedbot: An AI-Driven Timetable Generator</vt:lpstr>
      <vt:lpstr>Quote </vt:lpstr>
      <vt:lpstr>Table of Content</vt:lpstr>
      <vt:lpstr>ABSTRACT</vt:lpstr>
      <vt:lpstr>PROBLEM STATEMENT</vt:lpstr>
      <vt:lpstr>PROPOSED SOLUTION</vt:lpstr>
      <vt:lpstr>METHODOLOGY</vt:lpstr>
      <vt:lpstr>METHODOLOGY STEPS</vt:lpstr>
      <vt:lpstr>RESULT</vt:lpstr>
      <vt:lpstr>Conclusion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CTF FOR BEGINNERS</dc:title>
  <dc:creator>admin</dc:creator>
  <cp:lastModifiedBy>u2022456</cp:lastModifiedBy>
  <cp:revision>18</cp:revision>
  <dcterms:created xsi:type="dcterms:W3CDTF">2018-04-19T19:05:41Z</dcterms:created>
  <dcterms:modified xsi:type="dcterms:W3CDTF">2024-12-21T09:39:58Z</dcterms:modified>
</cp:coreProperties>
</file>